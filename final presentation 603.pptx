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71"/>
    <p:restoredTop sz="96070"/>
  </p:normalViewPr>
  <p:slideViewPr>
    <p:cSldViewPr snapToGrid="0">
      <p:cViewPr varScale="1">
        <p:scale>
          <a:sx n="87" d="100"/>
          <a:sy n="87" d="100"/>
        </p:scale>
        <p:origin x="57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" TargetMode="External"/><Relationship Id="rId2" Type="http://schemas.openxmlformats.org/officeDocument/2006/relationships/hyperlink" Target="https://www.faa.gov/data_research/aviation_data_statisti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ableau.com/learn/whitepapers/data-visualization-best-practices" TargetMode="External"/><Relationship Id="rId5" Type="http://schemas.openxmlformats.org/officeDocument/2006/relationships/hyperlink" Target="https://spark.apache.org/docs/latest/rdd-programming-guide.html" TargetMode="External"/><Relationship Id="rId4" Type="http://schemas.openxmlformats.org/officeDocument/2006/relationships/hyperlink" Target="https://mongodb.github.io/mongo-csharp-driv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E5A1A-9F09-0D60-956A-E5718CDF4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279" y="967417"/>
            <a:ext cx="3778870" cy="394325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EFFFF"/>
                </a:solidFill>
              </a:rPr>
              <a:t>FLIGHT DELAY ANALYSIS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789E3-1A71-C9A8-E12B-366B3B70A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279" y="5189400"/>
            <a:ext cx="4099454" cy="700654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100" dirty="0" err="1">
                <a:solidFill>
                  <a:srgbClr val="FEFFFF"/>
                </a:solidFill>
              </a:rPr>
              <a:t>Yaswanth</a:t>
            </a:r>
            <a:r>
              <a:rPr lang="en-US" sz="1100" dirty="0">
                <a:solidFill>
                  <a:srgbClr val="FEFFFF"/>
                </a:solidFill>
              </a:rPr>
              <a:t> </a:t>
            </a:r>
            <a:r>
              <a:rPr lang="en-US" sz="1100" dirty="0" err="1" smtClean="0">
                <a:solidFill>
                  <a:srgbClr val="FEFFFF"/>
                </a:solidFill>
              </a:rPr>
              <a:t>Atluri</a:t>
            </a:r>
            <a:r>
              <a:rPr lang="en-US" sz="1100" smtClean="0">
                <a:solidFill>
                  <a:srgbClr val="FEFFFF"/>
                </a:solidFill>
              </a:rPr>
              <a:t>   </a:t>
            </a:r>
            <a:endParaRPr lang="en-US" sz="1100" dirty="0">
              <a:solidFill>
                <a:srgbClr val="FE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 dirty="0" err="1">
                <a:solidFill>
                  <a:srgbClr val="FEFFFF"/>
                </a:solidFill>
              </a:rPr>
              <a:t>Sruthi</a:t>
            </a:r>
            <a:r>
              <a:rPr lang="en-US" sz="1100" dirty="0">
                <a:solidFill>
                  <a:srgbClr val="FEFFFF"/>
                </a:solidFill>
              </a:rPr>
              <a:t> </a:t>
            </a:r>
            <a:r>
              <a:rPr lang="en-US" sz="1100" dirty="0" err="1" smtClean="0">
                <a:solidFill>
                  <a:srgbClr val="FEFFFF"/>
                </a:solidFill>
              </a:rPr>
              <a:t>Paladugu</a:t>
            </a:r>
            <a:r>
              <a:rPr lang="en-US" sz="1100" dirty="0" smtClean="0">
                <a:solidFill>
                  <a:srgbClr val="FEFFFF"/>
                </a:solidFill>
              </a:rPr>
              <a:t>    </a:t>
            </a:r>
            <a:endParaRPr lang="en-US" sz="1100" dirty="0">
              <a:solidFill>
                <a:srgbClr val="FE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 dirty="0" err="1" smtClean="0">
                <a:solidFill>
                  <a:srgbClr val="FEFFFF"/>
                </a:solidFill>
              </a:rPr>
              <a:t>Suraj</a:t>
            </a:r>
            <a:r>
              <a:rPr lang="en-US" sz="1100" dirty="0" smtClean="0">
                <a:solidFill>
                  <a:srgbClr val="FEFFFF"/>
                </a:solidFill>
              </a:rPr>
              <a:t>  HC</a:t>
            </a:r>
            <a:endParaRPr lang="en-US" sz="1100" dirty="0">
              <a:solidFill>
                <a:srgbClr val="FEFFFF"/>
              </a:solidFill>
            </a:endParaRPr>
          </a:p>
        </p:txBody>
      </p:sp>
      <p:pic>
        <p:nvPicPr>
          <p:cNvPr id="4" name="Picture 3" descr="A group of people at an airport&#10;&#10;Description automatically generated">
            <a:extLst>
              <a:ext uri="{FF2B5EF4-FFF2-40B4-BE49-F238E27FC236}">
                <a16:creationId xmlns:a16="http://schemas.microsoft.com/office/drawing/2014/main" id="{61C94F1C-6AB5-C741-BDD8-55882C684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94" y="1552484"/>
            <a:ext cx="5640502" cy="3760334"/>
          </a:xfrm>
          <a:prstGeom prst="rect">
            <a:avLst/>
          </a:prstGeom>
          <a:effectLst>
            <a:softEdge rad="326814"/>
          </a:effectLst>
        </p:spPr>
      </p:pic>
    </p:spTree>
    <p:extLst>
      <p:ext uri="{BB962C8B-B14F-4D97-AF65-F5344CB8AC3E}">
        <p14:creationId xmlns:p14="http://schemas.microsoft.com/office/powerpoint/2010/main" val="331832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97C0-1349-A27F-68E2-7F362BBB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F1C8-3304-6DE7-B661-4BFE9E00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0" i="0" dirty="0">
                <a:solidFill>
                  <a:srgbClr val="343541"/>
                </a:solidFill>
                <a:effectLst/>
                <a:latin typeface="Söhne"/>
              </a:rPr>
              <a:t>Air travel is the preferred choice for many due to its unparalleled speed and convenience, especially for covering extensive distances. </a:t>
            </a:r>
          </a:p>
          <a:p>
            <a:pPr algn="just"/>
            <a:r>
              <a:rPr lang="en-US" sz="2000" b="0" i="0" dirty="0">
                <a:solidFill>
                  <a:srgbClr val="343541"/>
                </a:solidFill>
                <a:effectLst/>
                <a:latin typeface="Söhne"/>
              </a:rPr>
              <a:t>Flights can efficiently traverse vast distances within a few hours, a stark contrast to the days or even weeks required by car or train. </a:t>
            </a:r>
          </a:p>
          <a:p>
            <a:pPr algn="just"/>
            <a:r>
              <a:rPr lang="en-US" sz="2000" b="0" i="0" dirty="0">
                <a:solidFill>
                  <a:srgbClr val="343541"/>
                </a:solidFill>
                <a:effectLst/>
                <a:latin typeface="Söhne"/>
              </a:rPr>
              <a:t>Furthermore, air travel stands out by providing a unique level of comfort and luxury not found in alternative modes of transportation. </a:t>
            </a:r>
          </a:p>
          <a:p>
            <a:pPr algn="just"/>
            <a:r>
              <a:rPr lang="en-US" sz="2000" b="0" i="0" dirty="0">
                <a:solidFill>
                  <a:srgbClr val="343541"/>
                </a:solidFill>
                <a:effectLst/>
                <a:latin typeface="Söhne"/>
              </a:rPr>
              <a:t>Modern airplanes come equipped with various amenities, including entertainment systems, comfortable seating, and in-flight meals, enhancing the overall pleasure of the air travel experience.</a:t>
            </a:r>
            <a:endParaRPr lang="en-US" sz="2000" dirty="0">
              <a:solidFill>
                <a:srgbClr val="37415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11664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97C0-1349-A27F-68E2-7F362BBB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F1C8-3304-6DE7-B661-4BFE9E00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34160"/>
            <a:ext cx="8915400" cy="43770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In this project, we are addressing the issue of flight delays and working on predicting these delays. Flight delays are a commonplace issue influenced by various factors.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Some of the factors contributing to delays include: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Delay by the Air Carrier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Weather-Related Delay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Delay within the National Aviation System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Security-Related Delay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Late Arrival of Aircraft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Cancellations</a:t>
            </a:r>
          </a:p>
          <a:p>
            <a:r>
              <a:rPr lang="en-US" sz="2000" dirty="0">
                <a:solidFill>
                  <a:srgbClr val="374151"/>
                </a:solidFill>
                <a:latin typeface="Söhne"/>
              </a:rPr>
              <a:t>D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iversions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478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97C0-1349-A27F-68E2-7F362BBB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F1C8-3304-6DE7-B661-4BFE9E00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8"/>
            <a:ext cx="8915400" cy="448469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/>
              <a:t>1. Data Compilation:</a:t>
            </a:r>
          </a:p>
          <a:p>
            <a:pPr algn="just"/>
            <a:r>
              <a:rPr lang="en-US" sz="1600" dirty="0"/>
              <a:t>We've gathered information from the Bureau of Transportation Statistics, spanning flights between 2012 and 2022.</a:t>
            </a:r>
          </a:p>
          <a:p>
            <a:pPr marL="0" indent="0" algn="just">
              <a:buNone/>
            </a:pPr>
            <a:r>
              <a:rPr lang="en-US" sz="1600" b="1" dirty="0"/>
              <a:t>2. Dataset Overview:</a:t>
            </a:r>
          </a:p>
          <a:p>
            <a:pPr algn="just"/>
            <a:r>
              <a:rPr lang="en-US" sz="1600" dirty="0"/>
              <a:t>The dataset comprises 22 columns and 35,318 rows, detailing various delay factors in flight operations.</a:t>
            </a:r>
          </a:p>
          <a:p>
            <a:pPr marL="0" indent="0" algn="just">
              <a:buNone/>
            </a:pPr>
            <a:r>
              <a:rPr lang="en-US" sz="1600" b="1" dirty="0"/>
              <a:t>3. Key Columns:</a:t>
            </a:r>
          </a:p>
          <a:p>
            <a:pPr algn="just"/>
            <a:r>
              <a:rPr lang="en-US" sz="1600" dirty="0"/>
              <a:t>Notable columns include Year, Month, carrier, </a:t>
            </a:r>
            <a:r>
              <a:rPr lang="en-US" sz="1600" dirty="0" err="1"/>
              <a:t>carrier_name</a:t>
            </a:r>
            <a:r>
              <a:rPr lang="en-US" sz="1600" dirty="0"/>
              <a:t>, airport, </a:t>
            </a:r>
            <a:r>
              <a:rPr lang="en-US" sz="1600" dirty="0" err="1"/>
              <a:t>airport_name</a:t>
            </a:r>
            <a:r>
              <a:rPr lang="en-US" sz="1600" dirty="0"/>
              <a:t>, </a:t>
            </a:r>
            <a:r>
              <a:rPr lang="en-US" sz="1600" dirty="0" err="1"/>
              <a:t>arr_delay</a:t>
            </a:r>
            <a:r>
              <a:rPr lang="en-US" sz="1600" dirty="0"/>
              <a:t>, </a:t>
            </a:r>
            <a:r>
              <a:rPr lang="en-US" sz="1600" dirty="0" err="1"/>
              <a:t>carrier_delay</a:t>
            </a:r>
            <a:r>
              <a:rPr lang="en-US" sz="1600" dirty="0"/>
              <a:t>, </a:t>
            </a:r>
            <a:r>
              <a:rPr lang="en-US" sz="1600" dirty="0" err="1"/>
              <a:t>weather_delay</a:t>
            </a:r>
            <a:r>
              <a:rPr lang="en-US" sz="1600" dirty="0"/>
              <a:t>, </a:t>
            </a:r>
            <a:r>
              <a:rPr lang="en-US" sz="1600" dirty="0" err="1"/>
              <a:t>nas_delay</a:t>
            </a:r>
            <a:r>
              <a:rPr lang="en-US" sz="1600" dirty="0"/>
              <a:t>, and </a:t>
            </a:r>
            <a:r>
              <a:rPr lang="en-US" sz="1600" dirty="0" err="1"/>
              <a:t>security_delay</a:t>
            </a:r>
            <a:r>
              <a:rPr lang="en-US" sz="1600" dirty="0"/>
              <a:t>.</a:t>
            </a:r>
          </a:p>
          <a:p>
            <a:pPr marL="0" indent="0" algn="just">
              <a:buNone/>
            </a:pPr>
            <a:r>
              <a:rPr lang="en-US" sz="1600" b="1" dirty="0"/>
              <a:t>4. Data Preparation for Analysis:</a:t>
            </a:r>
          </a:p>
          <a:p>
            <a:pPr algn="just"/>
            <a:r>
              <a:rPr lang="en-US" sz="1600" dirty="0"/>
              <a:t>To facilitate the development of our Machine Learning Algorithm for delay analysis, a crucial step involves cleaning the dataset—removing unnecessary columns and rows.</a:t>
            </a:r>
          </a:p>
        </p:txBody>
      </p:sp>
    </p:spTree>
    <p:extLst>
      <p:ext uri="{BB962C8B-B14F-4D97-AF65-F5344CB8AC3E}">
        <p14:creationId xmlns:p14="http://schemas.microsoft.com/office/powerpoint/2010/main" val="54208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97C0-1349-A27F-68E2-7F362BBB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F1C8-3304-6DE7-B661-4BFE9E00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73200"/>
            <a:ext cx="9125047" cy="495808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/>
              <a:t>Step 1: Data Collection and Cleaning</a:t>
            </a:r>
          </a:p>
          <a:p>
            <a:pPr algn="just">
              <a:lnSpc>
                <a:spcPct val="150000"/>
              </a:lnSpc>
            </a:pPr>
            <a:r>
              <a:rPr lang="en-US" sz="1200" dirty="0"/>
              <a:t>Collect and clean data, removing missing values, unwanted rows, and columns. Ensure data format correctness and store in MongoDB.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/>
              <a:t>Step 2: Integration with Apache Spark</a:t>
            </a:r>
          </a:p>
          <a:p>
            <a:pPr algn="just">
              <a:lnSpc>
                <a:spcPct val="150000"/>
              </a:lnSpc>
            </a:pPr>
            <a:r>
              <a:rPr lang="en-US" sz="1200" dirty="0"/>
              <a:t>Use MongoDB connector for Apache Spark. Access machine learning libraries for MongoDB. Convert data into RDD.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/>
              <a:t>Step 3: Data Splitting and Model Development</a:t>
            </a:r>
          </a:p>
          <a:p>
            <a:pPr algn="just">
              <a:lnSpc>
                <a:spcPct val="150000"/>
              </a:lnSpc>
            </a:pPr>
            <a:r>
              <a:rPr lang="en-US" sz="1200" dirty="0"/>
              <a:t>Split data into training and testing sets. Build ML regression model for flight delay prediction. Train model on flight delay data.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/>
              <a:t>Step 4: Model Performance Evaluation</a:t>
            </a:r>
          </a:p>
          <a:p>
            <a:pPr algn="just">
              <a:lnSpc>
                <a:spcPct val="150000"/>
              </a:lnSpc>
            </a:pPr>
            <a:r>
              <a:rPr lang="en-US" sz="1200" dirty="0"/>
              <a:t>Evaluate model using root mean square method.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/>
              <a:t>Step 5: Model Deployment</a:t>
            </a:r>
          </a:p>
          <a:p>
            <a:pPr algn="just">
              <a:lnSpc>
                <a:spcPct val="150000"/>
              </a:lnSpc>
            </a:pPr>
            <a:r>
              <a:rPr lang="en-US" sz="1200" dirty="0"/>
              <a:t>Deploy model into MongoDB database for real-time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09581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97C0-1349-A27F-68E2-7F362BBB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 AND 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0F1C8-3304-6DE7-B661-4BFE9E00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52552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Bar graphs and pie charts for data representation.</a:t>
            </a:r>
          </a:p>
          <a:p>
            <a:pPr algn="just"/>
            <a:r>
              <a:rPr lang="en-US" sz="2000" dirty="0"/>
              <a:t>Analysis of airports with the highest accuracy in arrival and departure times.</a:t>
            </a:r>
          </a:p>
          <a:p>
            <a:pPr algn="just"/>
            <a:r>
              <a:rPr lang="en-US" sz="2000" dirty="0"/>
              <a:t>Examination of airports with the lowest and highest numbers of cancellations and diversions.</a:t>
            </a:r>
          </a:p>
          <a:p>
            <a:pPr algn="just"/>
            <a:r>
              <a:rPr lang="en-US" sz="2000" dirty="0"/>
              <a:t>Identification of the most common factors contributing to flight delays.</a:t>
            </a:r>
          </a:p>
          <a:p>
            <a:pPr algn="just"/>
            <a:r>
              <a:rPr lang="en-US" sz="2000" dirty="0"/>
              <a:t>Presentation of delay factors with corresponding percentages.</a:t>
            </a:r>
          </a:p>
        </p:txBody>
      </p:sp>
    </p:spTree>
    <p:extLst>
      <p:ext uri="{BB962C8B-B14F-4D97-AF65-F5344CB8AC3E}">
        <p14:creationId xmlns:p14="http://schemas.microsoft.com/office/powerpoint/2010/main" val="944918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97C0-1349-A27F-68E2-7F362BBB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87831"/>
          </a:xfrm>
        </p:spPr>
        <p:txBody>
          <a:bodyPr/>
          <a:lstStyle/>
          <a:p>
            <a:r>
              <a:rPr lang="en-US" dirty="0"/>
              <a:t>PROPOSED ARCHITECTURE OF PROJECT</a:t>
            </a:r>
          </a:p>
        </p:txBody>
      </p:sp>
      <p:pic>
        <p:nvPicPr>
          <p:cNvPr id="4" name="Content Placeholder 4" descr="Shape&#10;&#10;Description automatically generated with low confidence">
            <a:extLst>
              <a:ext uri="{FF2B5EF4-FFF2-40B4-BE49-F238E27FC236}">
                <a16:creationId xmlns:a16="http://schemas.microsoft.com/office/drawing/2014/main" id="{CF06BE9A-E493-E69F-E01B-FCA99E4B2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788" y="1559859"/>
            <a:ext cx="8331466" cy="568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0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97C0-1349-A27F-68E2-7F362BBB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1A597-FD04-8348-4CCE-5653B0CD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044" y="1890490"/>
            <a:ext cx="8915400" cy="3219990"/>
          </a:xfrm>
        </p:spPr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Bureau of Transportation Statistics. (n.d.). Understanding Flight Delays and Causes. Federal Aviation Administration. Retrieved from 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Söhne"/>
                <a:hlinkClick r:id="rId2"/>
              </a:rPr>
              <a:t>https://www.faa.gov/data_research/aviation_data_statistics/</a:t>
            </a: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MongoDB. (n.d.). MongoDB Official Documentation. Retrieved from 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https://docs.mongodb.com/</a:t>
            </a: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MongoDB. (n.d.). MongoDB C#/.NET Driver Documentation. Retrieved from 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https://mongodb.github.io/mongo-csharp-driver/</a:t>
            </a: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Apache Spark Documentation. (n.d.). Apache Spark - RDD Programming Guide. Retrieved from 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Söhne"/>
                <a:hlinkClick r:id="rId5"/>
              </a:rPr>
              <a:t>https://spark.apache.org/docs/latest/rdd-programming-guide.html</a:t>
            </a: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Tableau. (n.d.). Data Visualization Best Practices. Retrieved from 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Söhne"/>
                <a:hlinkClick r:id="rId6"/>
              </a:rPr>
              <a:t>https://www.tableau.com/learn/whitepapers/data-visualization-best-practices</a:t>
            </a: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2529299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648</TotalTime>
  <Words>553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Söhne</vt:lpstr>
      <vt:lpstr>Wingdings 3</vt:lpstr>
      <vt:lpstr>Wisp</vt:lpstr>
      <vt:lpstr>FLIGHT DELAY ANALYSIS</vt:lpstr>
      <vt:lpstr>INTRODUCTION</vt:lpstr>
      <vt:lpstr>INTRODUCTION</vt:lpstr>
      <vt:lpstr>DATA</vt:lpstr>
      <vt:lpstr>PROJECT PROCEDURE</vt:lpstr>
      <vt:lpstr>VISUALIZATIONS AND EXPECTED RESULTS</vt:lpstr>
      <vt:lpstr>PROPOSED ARCHITECTURE OF PROJECT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DELAY ANALYSIS</dc:title>
  <dc:creator>Sruthi Paladugu</dc:creator>
  <cp:lastModifiedBy>YASH !</cp:lastModifiedBy>
  <cp:revision>3</cp:revision>
  <dcterms:created xsi:type="dcterms:W3CDTF">2023-12-04T06:12:46Z</dcterms:created>
  <dcterms:modified xsi:type="dcterms:W3CDTF">2023-12-13T03:05:10Z</dcterms:modified>
</cp:coreProperties>
</file>